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9128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3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A2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NHPT Heritage AI Prototype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9C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+ LangChain RAG for Heritage Site Classification &amp; Visitor Engagement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4617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and Related Applications (NB627BSDS) — Coursework 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C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Kalingu  •  BSc (Hons) in Data Science, NIBM  •  Student ID: COBSCDS252P-015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822960" cy="73152"/>
          </a:xfrm>
          <a:prstGeom prst="rect">
            <a:avLst/>
          </a:prstGeom>
          <a:solidFill>
            <a:srgbClr val="B5533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and the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4F1EC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B553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Monitoring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site inspection is slow and inconsistent across NHPT's heritage buildings.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4F1EC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0" y="1737360"/>
            <a:ext cx="548640" cy="548640"/>
          </a:xfrm>
          <a:prstGeom prst="ellipse">
            <a:avLst/>
          </a:prstGeom>
          <a:solidFill>
            <a:srgbClr val="B553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0" y="2423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Visitor Engagement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9260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want interactive answers, not just plaques and static information.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223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21040" y="1737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C7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Prototype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233172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photo →  </a:t>
            </a:r>
            <a:r>
              <a:rPr lang="en-US" sz="1300" dirty="0">
                <a:solidFill>
                  <a:srgbClr val="CB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model classifies architectural style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→  </a:t>
            </a:r>
            <a:r>
              <a:rPr lang="en-US" sz="1300" dirty="0">
                <a:solidFill>
                  <a:srgbClr val="CB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assistant answers, grounded in real sources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components map directly to the coursework's Part A1 requirements</a:t>
            </a:r>
            <a:endParaRPr lang="en-US" sz="1400" dirty="0"/>
          </a:p>
        </p:txBody>
      </p:sp>
      <p:pic>
        <p:nvPicPr>
          <p:cNvPr id="4" name="Image 0" descr="/home/claude/pptx_assets/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876" y="1325880"/>
            <a:ext cx="731520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Vision: Architectural Style Classifier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 transfer learning, fine-tuned on 6 real architectural styles (arcDataset)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55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85.96%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Test Accuracy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 vs 0.60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(Gothic) vs Weakest (Palladian) F1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57200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Palladian confused with Georgian/Baroque — both classical, symmetrical English revival styles; also fewer training images (113 vs 425 for the majority class).</a:t>
            </a:r>
            <a:endParaRPr lang="en-US" sz="1200" dirty="0"/>
          </a:p>
        </p:txBody>
      </p:sp>
      <p:pic>
        <p:nvPicPr>
          <p:cNvPr id="11" name="Image 0" descr="/home/claude/pptx_assets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371600"/>
            <a:ext cx="5120640" cy="496079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Assistant: Grounded in Real Data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real UK heritage buildings, fetched live from Wikipedia — not hand-written placeholder text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60320" cy="621792"/>
          </a:xfrm>
          <a:prstGeom prst="roundRect">
            <a:avLst>
              <a:gd name="adj" fmla="val 11765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721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Westminster Abbey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Gothic architecture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560320" cy="621792"/>
          </a:xfrm>
          <a:prstGeom prst="roundRect">
            <a:avLst>
              <a:gd name="adj" fmla="val 11765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4721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Kenwood House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74720" y="17373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Georgian architecture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2560320" cy="621792"/>
          </a:xfrm>
          <a:prstGeom prst="roundRect">
            <a:avLst>
              <a:gd name="adj" fmla="val 11765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2494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Blenheim Palace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25146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Baroque architecture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7560" y="2194560"/>
            <a:ext cx="2560320" cy="621792"/>
          </a:xfrm>
          <a:prstGeom prst="roundRect">
            <a:avLst>
              <a:gd name="adj" fmla="val 11765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22494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Durham Cathedral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74720" y="25146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Romanesque architecture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2560320" cy="621792"/>
          </a:xfrm>
          <a:prstGeom prst="roundRect">
            <a:avLst>
              <a:gd name="adj" fmla="val 11765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02666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Uppark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3291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 Anne architecture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37560" y="2971800"/>
            <a:ext cx="2560320" cy="621792"/>
          </a:xfrm>
          <a:prstGeom prst="roundRect">
            <a:avLst>
              <a:gd name="adj" fmla="val 11765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74720" y="302666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Chiswick House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474720" y="3291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Palladian architecture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1417320"/>
            <a:ext cx="5303520" cy="2606040"/>
          </a:xfrm>
          <a:prstGeom prst="roundRect">
            <a:avLst>
              <a:gd name="adj" fmla="val 3509"/>
            </a:avLst>
          </a:prstGeom>
          <a:solidFill>
            <a:srgbClr val="223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37960" y="1554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C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grounded, cited answer: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187452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9C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architectural style is Ashcombe Abbey?
</a:t>
            </a:r>
            <a:r>
              <a:rPr lang="en-US" sz="1200" b="1" dirty="0">
                <a:solidFill>
                  <a:srgbClr val="D9C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“Ashcombe Abbey largely follows French Gothic styles... (Source: Ashcombe Abbey)”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4251960"/>
            <a:ext cx="5303520" cy="1691640"/>
          </a:xfrm>
          <a:prstGeom prst="roundRect">
            <a:avLst>
              <a:gd name="adj" fmla="val 5405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37960" y="44348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Chroma vector DB (cosine) + sentence-transformers embeddings + Gemma 3 12B via Ollama (local, self-hosted — the only LLM ever used)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Bugs Found, Diagnosed, and Fixed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testing rigor, not just a demo that happened to 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" cy="548640"/>
          </a:xfrm>
          <a:prstGeom prst="ellipse">
            <a:avLst/>
          </a:prstGeom>
          <a:solidFill>
            <a:srgbClr val="B553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46304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Grad-CAM nested-layer error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0" y="14630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 embedded as a single nested layer broke get_layer('top_conv'). Fixed with a two-submodel split.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48640" cy="548640"/>
          </a:xfrm>
          <a:prstGeom prst="ellipse">
            <a:avLst/>
          </a:prstGeom>
          <a:solidFill>
            <a:srgbClr val="B553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28803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 relevance-score bug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0" y="288036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L2 distance gave out-of-range scores, silently zeroing every retrieval. Fixed via cosine distance metric.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48640" cy="548640"/>
          </a:xfrm>
          <a:prstGeom prst="ellipse">
            <a:avLst/>
          </a:prstGeom>
          <a:solidFill>
            <a:srgbClr val="B553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429768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env mismatch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69280" y="42976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run from a different Python env than training. First fix attempt made it worse; correct fix (same venv) confirmed working end-to-end.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Critically: the LLM never fabricated a fact when retrieval failed — it correctly declined. The fault was isolated to retrieval, not generation.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App: Upload, Classify, Chat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 app.py — combines the CV model and the RAG assistant in one interface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223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a photo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uploads a building photo through the browser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95928" y="251460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26280" y="1783080"/>
            <a:ext cx="502920" cy="502920"/>
          </a:xfrm>
          <a:prstGeom prst="ellipse">
            <a:avLst/>
          </a:prstGeom>
          <a:solidFill>
            <a:srgbClr val="223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262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24231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classifies + explains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28803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style, confidence bar, and a Grad-CAM heatmap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44968" y="251460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46720" y="155448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4F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75320" y="1783080"/>
            <a:ext cx="502920" cy="502920"/>
          </a:xfrm>
          <a:prstGeom prst="ellipse">
            <a:avLst/>
          </a:prstGeom>
          <a:solidFill>
            <a:srgbClr val="223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7532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75320" y="24231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Chat, grounded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75320" y="28803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follow-ups; the assistant cites real sources and stays aware of the uploaded photo</a:t>
            </a:r>
            <a:endParaRPr lang="en-US" sz="1250" dirty="0"/>
          </a:p>
        </p:txBody>
      </p:sp>
      <p:pic>
        <p:nvPicPr>
          <p:cNvPr id="21" name="Image 0" descr="/home/claude/pptx_assets/gradcam_g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51960"/>
            <a:ext cx="2743200" cy="139019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3840480" y="44348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Grad-CAM: correct Gothic prediction — model attends to the towers/facade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23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 &amp; 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27632"/>
            <a:ext cx="109728" cy="109728"/>
          </a:xfrm>
          <a:prstGeom prst="rect">
            <a:avLst/>
          </a:prstGeom>
          <a:solidFill>
            <a:srgbClr val="B553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48132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doesn't resolve pronouns across turns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84708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C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“It” / “that” aren't rewritten before search — fix: history-aware retriever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87752"/>
            <a:ext cx="109728" cy="109728"/>
          </a:xfrm>
          <a:prstGeom prst="rect">
            <a:avLst/>
          </a:prstGeom>
          <a:solidFill>
            <a:srgbClr val="B553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4414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 in CV training 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80720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C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425 Queen Anne images vs. 107 Romanesque — fix: class-weighted loss or more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035040"/>
            <a:ext cx="12188952" cy="18288"/>
          </a:xfrm>
          <a:prstGeom prst="rect">
            <a:avLst/>
          </a:prstGeom>
          <a:solidFill>
            <a:srgbClr val="3A4A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6217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9C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571</Words>
  <Application>Microsoft Office PowerPoint</Application>
  <PresentationFormat>Widescreen</PresentationFormat>
  <Paragraphs>86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GAMAGE K N</cp:lastModifiedBy>
  <cp:revision>2</cp:revision>
  <dcterms:created xsi:type="dcterms:W3CDTF">2026-07-26T16:46:49Z</dcterms:created>
  <dcterms:modified xsi:type="dcterms:W3CDTF">2026-07-30T06:41:59Z</dcterms:modified>
</cp:coreProperties>
</file>